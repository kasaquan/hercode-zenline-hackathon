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394e25a6d1457e" /><Relationship Type="http://schemas.openxmlformats.org/officeDocument/2006/relationships/extended-properties" Target="/docProps/app.xml" Id="Ree03d446785747eb" /><Relationship Type="http://schemas.openxmlformats.org/officeDocument/2006/relationships/officeDocument" Target="/ppt/presentation.xml" Id="Rcfbd6f01f89048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599d51f5804cbe"/>
  </p:sldMasterIdLst>
  <p:notesMasterIdLst>
    <p:notesMasterId xmlns:r="http://schemas.openxmlformats.org/officeDocument/2006/relationships" r:id="R015d374da4f04a9d"/>
  </p:notesMasterIdLst>
  <p:sldIdLst>
    <p:sldId xmlns:r="http://schemas.openxmlformats.org/officeDocument/2006/relationships" id="256" r:id="R57e6611d91864a99"/>
    <p:sldId xmlns:r="http://schemas.openxmlformats.org/officeDocument/2006/relationships" id="257" r:id="R5b66a815a6924bc6"/>
    <p:sldId xmlns:r="http://schemas.openxmlformats.org/officeDocument/2006/relationships" id="258" r:id="R74de8b9ce6f74b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ecea560f954458" /><Relationship Type="http://schemas.openxmlformats.org/officeDocument/2006/relationships/slideMaster" Target="/ppt/slideMasters/slideMaster1.xml" Id="R7c599d51f5804cbe" /><Relationship Type="http://schemas.openxmlformats.org/officeDocument/2006/relationships/notesMaster" Target="/ppt/notesMasters/notesMaster1.xml" Id="R015d374da4f04a9d" /><Relationship Type="http://schemas.openxmlformats.org/officeDocument/2006/relationships/presProps" Target="/ppt/presProps.xml" Id="R3081b840b3294ec0" /><Relationship Type="http://schemas.openxmlformats.org/officeDocument/2006/relationships/tableStyles" Target="/ppt/tableStyles.xml" Id="Rb13c8a2739f84895" /><Relationship Type="http://schemas.openxmlformats.org/officeDocument/2006/relationships/slide" Target="/ppt/slides/slide1.xml" Id="R57e6611d91864a99" /><Relationship Type="http://schemas.openxmlformats.org/officeDocument/2006/relationships/slide" Target="/ppt/slides/slide2.xml" Id="R5b66a815a6924bc6" /><Relationship Type="http://schemas.openxmlformats.org/officeDocument/2006/relationships/slide" Target="/ppt/slides/slide3.xml" Id="R74de8b9ce6f74b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5067bbb9794a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97136" dir="4721404">
              <a:srgbClr val="000000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f065892e7840a3" /><Relationship Type="http://schemas.openxmlformats.org/officeDocument/2006/relationships/notesMaster" Target="/ppt/notesMasters/notesMaster1.xml" Id="R89af871993d84b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aaef2b81dc4ec3" /><Relationship Type="http://schemas.openxmlformats.org/officeDocument/2006/relationships/notesMaster" Target="/ppt/notesMasters/notesMaster1.xml" Id="Ra757dc1a7d104a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9dc188dd6848b8" /><Relationship Type="http://schemas.openxmlformats.org/officeDocument/2006/relationships/notesMaster" Target="/ppt/notesMasters/notesMaster1.xml" Id="Ra3bf079332dc45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challenge as a real retail problem: retailers need to identify opportunities before clean sales history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teams can improve one module: source collection, scoring, dashboard, API, report, or handoff. They do not need to build an entire enterprise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concrete submission path: fork the repo, complete SUBMISSION.md, push final work before 16:30, and include visuals or a short video if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235dc786141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ddec51163a41f2" /><Relationship Type="http://schemas.openxmlformats.org/officeDocument/2006/relationships/slideLayout" Target="/ppt/slideLayouts/slideLayout1.xml" Id="R550cd0675bf84f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0cd0675bf84f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97136" dir="4721404">
              <a:srgbClr val="000000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e1a23a8f244a5" /><Relationship Type="http://schemas.openxmlformats.org/officeDocument/2006/relationships/image" Target="/ppt/media/image.png" Id="Rca622bab7b124aa9" /><Relationship Type="http://schemas.openxmlformats.org/officeDocument/2006/relationships/notesSlide" Target="/ppt/notesSlides/notesSlide1.xml" Id="R105f4e6d1eb44f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b46f416444ecc" /><Relationship Type="http://schemas.openxmlformats.org/officeDocument/2006/relationships/image" Target="/ppt/media/image2.png" Id="Refdfb12aa5d747b3" /><Relationship Type="http://schemas.openxmlformats.org/officeDocument/2006/relationships/notesSlide" Target="/ppt/notesSlides/notesSlide2.xml" Id="R8fdcb0f50f0249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2c34034114f06" /><Relationship Type="http://schemas.openxmlformats.org/officeDocument/2006/relationships/notesSlide" Target="/ppt/notesSlides/notesSlide3.xml" Id="Rc512fc8154a243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3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22bab7b124aa9"/>
          <a:srcRect xmlns:a="http://schemas.openxmlformats.org/drawingml/2006/main" l="24049" t="0" r="240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7400" y="0"/>
            <a:ext cx="63246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A90CF-4F86-42E5-8DF5-F947642D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9BC37-97F0-438C-B861-097A1697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9B7D6"/>
                </a:solidFill>
              </a:defRPr>
            </a:pPr>
            <a:r>
              <a:rPr sz="975" b="1">
                <a:solidFill>
                  <a:srgbClr val="69B7D6"/>
                </a:solidFill>
              </a:rPr>
              <a:t>HERCODE x ZENLINE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8A362-23FF-42FC-AB76-BBCC9CE2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5048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4EC"/>
                </a:solidFill>
              </a:defRPr>
            </a:pPr>
            <a:r>
              <a:rPr sz="4350" b="1">
                <a:solidFill>
                  <a:srgbClr val="F7F4EC"/>
                </a:solidFill>
              </a:rPr>
              <a:t>Build the retail radar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FC5C1-8362-4418-ADFB-057FCB44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CE8DF"/>
                </a:solidFill>
              </a:defRPr>
            </a:pPr>
            <a:r>
              <a:rPr sz="1725" b="0">
                <a:solidFill>
                  <a:srgbClr val="DCE8DF"/>
                </a:solidFill>
              </a:rPr>
              <a:t>Spot the outdoor opportunity before it becomes obvious. Turn messy global signals into a recommendation a Swiss retailer could act 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326E2-5737-463F-80B2-7DF0EF1E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11239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B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3D2E"/>
                </a:solidFill>
              </a:defRPr>
            </a:pPr>
            <a:r>
              <a:rPr sz="1200" b="1">
                <a:solidFill>
                  <a:srgbClr val="0F3D2E"/>
                </a:solidFill>
              </a:rPr>
              <a:t>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468A8-5D11-4A1C-BCFA-ABA78885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71950"/>
            <a:ext cx="12001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3D2E"/>
                </a:solidFill>
              </a:defRPr>
            </a:pPr>
            <a:r>
              <a:rPr sz="1200" b="1">
                <a:solidFill>
                  <a:srgbClr val="0F3D2E"/>
                </a:solidFill>
              </a:rPr>
              <a:t>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E2BA0-ADD0-48E1-8377-C8017834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71950"/>
            <a:ext cx="9906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7D10E-2C74-4D11-93F0-43E90409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4EC"/>
                </a:solidFill>
              </a:defRPr>
            </a:pPr>
            <a:r>
              <a:rPr sz="1275" b="1">
                <a:solidFill>
                  <a:srgbClr val="F7F4EC"/>
                </a:solidFill>
              </a:rPr>
              <a:t>June 19, 2026 | Teams of 2-4 | Submit your fork by 16:30 CEST</a:t>
            </a:r>
          </a:p>
        </p:txBody>
      </p:sp>
    </p:spTree>
    <p:extLst>
      <p:ext uri="{BB962C8B-B14F-4D97-AF65-F5344CB8AC3E}">
        <p14:creationId xmlns:p14="http://schemas.microsoft.com/office/powerpoint/2010/main" val="1379795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4DDF12-E859-404B-9FC3-B853A173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3D2E"/>
                </a:solidFill>
              </a:defRPr>
            </a:pPr>
            <a:r>
              <a:rPr sz="3150" b="1">
                <a:solidFill>
                  <a:srgbClr val="0F3D2E"/>
                </a:solidFill>
              </a:rPr>
              <a:t>The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C4E58-272F-41A5-B414-6A7E791A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6544D"/>
                </a:solidFill>
              </a:defRPr>
            </a:pPr>
            <a:r>
              <a:rPr sz="1650" b="0">
                <a:solidFill>
                  <a:srgbClr val="46544D"/>
                </a:solidFill>
              </a:rPr>
              <a:t>Build a reusable opportunity-detection flow for a Swiss outdoor retailer.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fb12aa5d747b3"/>
          <a:srcRect xmlns:a="http://schemas.openxmlformats.org/drawingml/2006/main" l="6323" t="0" r="63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590550"/>
            <a:ext cx="4819650" cy="3105150"/>
          </a:xfrm>
          <a:prstGeom xmlns:a="http://schemas.openxmlformats.org/drawingml/2006/main" prst="roundRect">
            <a:avLst>
              <a:gd name="adj" fmla="val 674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788D3-E86B-496C-AF0F-BDE8895A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23812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6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0E581-C818-4CC7-9835-F635E1A2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F9D2F-F913-4E69-9DAE-A1D2EE5F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3D2E"/>
                </a:solidFill>
              </a:defRPr>
            </a:pPr>
            <a:r>
              <a:rPr sz="1575" b="1">
                <a:solidFill>
                  <a:srgbClr val="0F3D2E"/>
                </a:solidFill>
              </a:rPr>
              <a:t>Collect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6047A-456F-4E5C-B330-185B5207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6544D"/>
                </a:solidFill>
              </a:defRPr>
            </a:pPr>
            <a:r>
              <a:rPr sz="1200" b="0">
                <a:solidFill>
                  <a:srgbClr val="46544D"/>
                </a:solidFill>
              </a:rPr>
              <a:t>Web, trends, social, marketplaces, competitors, custom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0CB26-B226-4E39-8E41-51BC1EBB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47850"/>
            <a:ext cx="23812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6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43B56-91A7-4341-A176-BB5766B8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19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ABC5D-2A18-4DD3-BC95-BDCFFD46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00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3D2E"/>
                </a:solidFill>
              </a:defRPr>
            </a:pPr>
            <a:r>
              <a:rPr sz="1575" b="1">
                <a:solidFill>
                  <a:srgbClr val="0F3D2E"/>
                </a:solidFill>
              </a:rPr>
              <a:t>Normalize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B8240-2313-4A21-9197-DAC68919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76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6544D"/>
                </a:solidFill>
              </a:defRPr>
            </a:pPr>
            <a:r>
              <a:rPr sz="1200" b="0">
                <a:solidFill>
                  <a:srgbClr val="46544D"/>
                </a:solidFill>
              </a:rPr>
              <a:t>Deduplicate sources and preserve URLs, markets, and limitations.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26BC9-8226-44A8-B28E-493BFD93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23812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6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EE580-6F90-4444-92B8-E37DD639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3FBF0-BDB1-453D-8F70-65CDC733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3D2E"/>
                </a:solidFill>
              </a:defRPr>
            </a:pPr>
            <a:r>
              <a:rPr sz="1575" b="1">
                <a:solidFill>
                  <a:srgbClr val="0F3D2E"/>
                </a:solidFill>
              </a:rPr>
              <a:t>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0F46F-45A1-4DA3-B0DD-2DF71858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6544D"/>
                </a:solidFill>
              </a:defRPr>
            </a:pPr>
            <a:r>
              <a:rPr sz="1200" b="0">
                <a:solidFill>
                  <a:srgbClr val="46544D"/>
                </a:solidFill>
              </a:rPr>
              <a:t>Rank signals by strength, confidence, transferability, and gaps.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D9DD8-C054-4C3E-BF5B-41D5B954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48050"/>
            <a:ext cx="23812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6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376C4-6401-461D-B50A-CF8314FB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19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2F416-B6F8-46E9-BA28-BCB596E6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0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3D2E"/>
                </a:solidFill>
              </a:defRPr>
            </a:pPr>
            <a:r>
              <a:rPr sz="1575" b="1">
                <a:solidFill>
                  <a:srgbClr val="0F3D2E"/>
                </a:solidFill>
              </a:rPr>
              <a:t>Recommend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2860B-D912-4E35-A3A3-1030D904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6544D"/>
                </a:solidFill>
              </a:defRPr>
            </a:pPr>
            <a:r>
              <a:rPr sz="1200" b="0">
                <a:solidFill>
                  <a:srgbClr val="46544D"/>
                </a:solidFill>
              </a:rPr>
              <a:t>Tell the retailer what to test, buy, launch, or monitor next.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A55C47-BB8A-47A8-827D-D59DE830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81450"/>
            <a:ext cx="481965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11430">
            <a:solidFill>
              <a:srgbClr val="0F3D2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07DB9-337A-4B3C-B68B-46C6B8D4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48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7D6"/>
                </a:solidFill>
              </a:defRPr>
            </a:pPr>
            <a:r>
              <a:rPr sz="1350" b="1">
                <a:solidFill>
                  <a:srgbClr val="69B7D6"/>
                </a:solidFill>
              </a:rPr>
              <a:t>Starter 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E98125-3D21-4D87-A85F-7F46A1F5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9105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7F4EC"/>
                </a:solidFill>
              </a:defRPr>
            </a:pPr>
            <a:r>
              <a:rPr sz="1425" b="0">
                <a:solidFill>
                  <a:srgbClr val="F7F4EC"/>
                </a:solidFill>
              </a:rPr>
              <a:t>Find outdoor opportunities for Switzerland/DACH: products, services, materials, occasions, assortment gaps, or community-led ideas.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8D597F-9812-4895-9FF9-BE454276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467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CE8DF"/>
                </a:solidFill>
              </a:defRPr>
            </a:pPr>
            <a:r>
              <a:rPr sz="1275" b="1">
                <a:solidFill>
                  <a:srgbClr val="DCE8DF"/>
                </a:solidFill>
              </a:rPr>
              <a:t>Reusable beyond outdoor.</a:t>
            </a:r>
          </a:p>
        </p:txBody>
      </p:sp>
    </p:spTree>
    <p:extLst>
      <p:ext uri="{BB962C8B-B14F-4D97-AF65-F5344CB8AC3E}">
        <p14:creationId xmlns:p14="http://schemas.microsoft.com/office/powerpoint/2010/main" val="239448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3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515864-1F1B-4EFA-BD0D-B6C0DA50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4EC"/>
                </a:solidFill>
              </a:defRPr>
            </a:pPr>
            <a:r>
              <a:rPr sz="3150" b="1">
                <a:solidFill>
                  <a:srgbClr val="F7F4EC"/>
                </a:solidFill>
              </a:rPr>
              <a:t>What to submit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6A6BC-30C4-435C-A167-83565C5E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15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8DF"/>
                </a:solidFill>
              </a:defRPr>
            </a:pPr>
            <a:r>
              <a:rPr sz="1650" b="0">
                <a:solidFill>
                  <a:srgbClr val="DCE8DF"/>
                </a:solidFill>
              </a:rPr>
              <a:t>Fork the repo, build your solution, and make the output easy for the jury to inspect.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37649-F7FC-49DB-8C44-3FBF79B2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5623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11430">
            <a:solidFill>
              <a:srgbClr val="DCE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E175A-AED3-42E4-884C-C45FFA36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3D2E"/>
                </a:solidFill>
              </a:defRPr>
            </a:pPr>
            <a:r>
              <a:rPr sz="1725" b="1">
                <a:solidFill>
                  <a:srgbClr val="0F3D2E"/>
                </a:solidFill>
              </a:rPr>
              <a:t>Code +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7617E-F10B-4626-ADBE-95DE1A87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6544D"/>
                </a:solidFill>
              </a:defRPr>
            </a:pPr>
            <a:r>
              <a:rPr sz="1200" b="0">
                <a:solidFill>
                  <a:srgbClr val="46544D"/>
                </a:solidFill>
              </a:rPr>
              <a:t>Scripts, notebook, dashboard, API, or workflow with run instructions.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5F0CD-C22E-411B-8C7A-A8C91DEB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52600"/>
            <a:ext cx="35623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11430">
            <a:solidFill>
              <a:srgbClr val="DCE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32CFB-D4B9-49B6-987D-0A18F98A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3D2E"/>
                </a:solidFill>
              </a:defRPr>
            </a:pPr>
            <a:r>
              <a:rPr sz="1725" b="1">
                <a:solidFill>
                  <a:srgbClr val="0F3D2E"/>
                </a:solidFill>
              </a:rPr>
              <a:t>Evidence trail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5FCDF-96DE-48AB-B273-ED26A3B0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6544D"/>
                </a:solidFill>
              </a:defRPr>
            </a:pPr>
            <a:r>
              <a:rPr sz="1200" b="0">
                <a:solidFill>
                  <a:srgbClr val="46544D"/>
                </a:solidFill>
              </a:rPr>
              <a:t>URLs, source names, data files, screenshots, and confidence notes.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17AB2-7B11-45C3-8C8B-DA0D2EFB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5623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11430">
            <a:solidFill>
              <a:srgbClr val="DCE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C8AF8-C0CC-4F72-9A07-FEF10098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3D2E"/>
                </a:solidFill>
              </a:defRPr>
            </a:pPr>
            <a:r>
              <a:rPr sz="1725" b="1">
                <a:solidFill>
                  <a:srgbClr val="0F3D2E"/>
                </a:solidFill>
              </a:rPr>
              <a:t>Ranked opportunities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77739-9C63-4FF1-AB0F-69A9E0C6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6544D"/>
                </a:solidFill>
              </a:defRPr>
            </a:pPr>
            <a:r>
              <a:rPr sz="1200" b="0">
                <a:solidFill>
                  <a:srgbClr val="46544D"/>
                </a:solidFill>
              </a:rPr>
              <a:t>What appears first, why it matters, and what to do next.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25D34-B580-4794-9E37-550FAF41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33750"/>
            <a:ext cx="35623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11430">
            <a:solidFill>
              <a:srgbClr val="DCE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7DF27-D087-40C7-AF3E-20D99549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43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3D2E"/>
                </a:solidFill>
              </a:defRPr>
            </a:pPr>
            <a:r>
              <a:rPr sz="1725" b="1">
                <a:solidFill>
                  <a:srgbClr val="0F3D2E"/>
                </a:solidFill>
              </a:rPr>
              <a:t>Demo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C6D03-DACC-492F-97B1-465CFE06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0525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6544D"/>
                </a:solidFill>
              </a:defRPr>
            </a:pPr>
            <a:r>
              <a:rPr sz="1200" b="0">
                <a:solidFill>
                  <a:srgbClr val="46544D"/>
                </a:solidFill>
              </a:rPr>
              <a:t>Visualization, dashboard explanation, or optional short video walkthrough.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2A9C9-3CB3-4959-9379-11E55F3D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57350"/>
            <a:ext cx="2724150" cy="29718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39324-A085-45B6-B38E-3BFAFFD0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62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3D2E"/>
                </a:solidFill>
              </a:defRPr>
            </a:pPr>
            <a:r>
              <a:rPr sz="2025" b="1">
                <a:solidFill>
                  <a:srgbClr val="0F3D2E"/>
                </a:solidFill>
              </a:rPr>
              <a:t>How to win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B8E85-0299-41A2-86E5-44E086E3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57450"/>
            <a:ext cx="18859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4EC"/>
                </a:solidFill>
              </a:defRPr>
            </a:pPr>
            <a:r>
              <a:rPr sz="1200" b="1">
                <a:solidFill>
                  <a:srgbClr val="F7F4EC"/>
                </a:solidFill>
              </a:rPr>
              <a:t>Real 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744B5-1875-4C6E-B287-B4BC186E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38450"/>
            <a:ext cx="18859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B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4EC"/>
                </a:solidFill>
              </a:defRPr>
            </a:pPr>
            <a:r>
              <a:rPr sz="1200" b="1">
                <a:solidFill>
                  <a:srgbClr val="F7F4EC"/>
                </a:solidFill>
              </a:rPr>
              <a:t>Source-backed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909CE-9BED-443B-9035-D7389746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19450"/>
            <a:ext cx="18859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4EC"/>
                </a:solidFill>
              </a:defRPr>
            </a:pPr>
            <a:r>
              <a:rPr sz="1200" b="1">
                <a:solidFill>
                  <a:srgbClr val="F7F4EC"/>
                </a:solidFill>
              </a:rPr>
              <a:t>CH/DACH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0B89E4-EE7B-47B9-8918-CBD059F4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00450"/>
            <a:ext cx="18859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B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4EC"/>
                </a:solidFill>
              </a:defRPr>
            </a:pPr>
            <a:r>
              <a:rPr sz="1200" b="1">
                <a:solidFill>
                  <a:srgbClr val="F7F4EC"/>
                </a:solidFill>
              </a:rPr>
              <a:t>Clear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3EAC55-9FAD-4C3A-A2AE-D447933A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81450"/>
            <a:ext cx="18859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4EC"/>
                </a:solidFill>
              </a:defRPr>
            </a:pPr>
            <a:r>
              <a:rPr sz="1200" b="1">
                <a:solidFill>
                  <a:srgbClr val="F7F4EC"/>
                </a:solidFill>
              </a:rPr>
              <a:t>Reusable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3BE06-52A8-4DBA-AA91-4E6E13CC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C7BABC-D7E7-4B0D-96B3-C08D875C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5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3D2E"/>
                </a:solidFill>
              </a:defRPr>
            </a:pPr>
            <a:r>
              <a:rPr sz="1725" b="1">
                <a:solidFill>
                  <a:srgbClr val="0F3D2E"/>
                </a:solidFill>
              </a:rPr>
              <a:t>Pre-submit 15:00 CEST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7538EB-6587-4EC8-B248-C94D5D2C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05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6B4A"/>
                </a:solidFill>
              </a:defRPr>
            </a:pPr>
            <a:r>
              <a:rPr sz="1725" b="1">
                <a:solidFill>
                  <a:srgbClr val="FF6B4A"/>
                </a:solidFill>
              </a:rPr>
              <a:t>Final fork due 16:30 CEST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A72D7B-1446-4171-BF5A-FA6CC07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07695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D2E"/>
                </a:solidFill>
              </a:defRPr>
            </a:pPr>
            <a:r>
              <a:rPr sz="1350" b="1">
                <a:solidFill>
                  <a:srgbClr val="0F3D2E"/>
                </a:solidFill>
              </a:rPr>
              <a:t>Repo: zenline-ch/hercode-zenline-hackathon</a:t>
            </a:r>
          </a:p>
        </p:txBody>
      </p:sp>
    </p:spTree>
    <p:extLst>
      <p:ext uri="{BB962C8B-B14F-4D97-AF65-F5344CB8AC3E}">
        <p14:creationId xmlns:p14="http://schemas.microsoft.com/office/powerpoint/2010/main" val="1144424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97136" dir="4721404">
              <a:srgbClr val="000000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2026-06-16T22:29:58.7820000Z</dcterms:created>
  <dcterms:modified xsi:type="dcterms:W3CDTF">2026-06-16T22:29:58.7830000Z</dcterms:modified>
</coreProperties>
</file>